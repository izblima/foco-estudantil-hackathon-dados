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Apresentação do Foco Estudantil, uma solução gamificada para estudos. Destaca-se a promessa de transformar o estudo solitário em conquistas tangíveis.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Abordamos os principais obstáculos: procrastinação pelo isolamento, distrações digitais e a falta de feedback imediato, culminando na perda de objetivos.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Apresentamos as funcionalidades chave: organização via listas, foco com Pomodoro e controle centralizado no dashboard.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Detalhe do sistema de recompensas: o estudo gera desbloqueio de itens visuais, criando um mural personalizado e permitindo competição social.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Estratégia de monetização: modelo Freemium com assinatura mensal para acesso a monitoramento avançado e Coach IA.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Perspectiva de futuro: foco em bem-estar mental, eficiência educacional e escalabilidade via parcerias com instituições.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Slide final para chamada à ação. Reforço da missão da Equipe 07 e contatos para o protótipo.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altLang="zh-C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270000" y="25400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Foco Estudantil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905000" y="3810000"/>
            <a:ext cx="838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Transformando Estudo em Conquista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0397" y="456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A2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270000" y="5715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REDUÇÃO DE PROCRASTINAÇÃO VIA GAMIFICAÇÃO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O problema do aprendizado em casa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Contextualizando o desafio: o isolamento torna a disciplina uma batalha diária.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E63DD"/>
                </a:solidFill>
                <a:latin typeface="Montserrat"/>
                <a:ea typeface="Montserrat"/>
                <a:cs typeface="Montserrat"/>
                <a:sym typeface="Montserrat"/>
              </a:rPr>
              <a:t>Procrastinação Elevada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Sem a estrutura da sala de aula, o adiamento de tarefas se torna constante devido ao isolamento.</a:t>
            </a:r>
          </a:p>
        </p:txBody>
      </p:sp>
      <p:sp>
        <p:nvSpPr>
          <p:cNvPr id="6" name="AutoShape 6"/>
          <p:cNvSpPr/>
          <p:nvPr/>
        </p:nvSpPr>
        <p:spPr>
          <a:xfrm>
            <a:off x="4445000" y="203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99000" y="228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E63DD"/>
                </a:solidFill>
                <a:latin typeface="Montserrat"/>
                <a:ea typeface="Montserrat"/>
                <a:cs typeface="Montserrat"/>
                <a:sym typeface="Montserrat"/>
              </a:rPr>
              <a:t>Distração Constante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Notificações de redes sociais e o celular estão sempre ao alcance, fragmentando o foco.</a:t>
            </a:r>
          </a:p>
        </p:txBody>
      </p:sp>
      <p:sp>
        <p:nvSpPr>
          <p:cNvPr id="8" name="AutoShape 8"/>
          <p:cNvSpPr/>
          <p:nvPr/>
        </p:nvSpPr>
        <p:spPr>
          <a:xfrm>
            <a:off x="8128000" y="2032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382000" y="2286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🕸️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E63DD"/>
                </a:solidFill>
                <a:latin typeface="Montserrat"/>
                <a:ea typeface="Montserrat"/>
                <a:cs typeface="Montserrat"/>
                <a:sym typeface="Montserrat"/>
              </a:rPr>
              <a:t>Falta de Recompensas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O estudo solitário carece de feedback positivo imediato, desmotivando a continuidade.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E63D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E63DD"/>
                </a:solidFill>
                <a:latin typeface="Roboto Mono"/>
                <a:ea typeface="Roboto Mono"/>
                <a:cs typeface="Roboto Mono"/>
                <a:sym typeface="Roboto Mono"/>
              </a:rPr>
              <a:t>"Metas e objetivos somem se você desiste."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Produtividade com propósito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Ferramentas objetivas para retomar o controle do seu aprendizado.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2349500"/>
            <a:ext cx="635000" cy="635000"/>
          </a:xfrm>
          <a:prstGeom prst="ellipse">
            <a:avLst/>
          </a:prstGeom>
          <a:solidFill>
            <a:srgbClr val="00A2C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22225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Lista de Tarefas Simplificada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Organização simples e direta para visualizar o que precisa ser feito sem sobrecarga mental.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873500"/>
            <a:ext cx="635000" cy="635000"/>
          </a:xfrm>
          <a:prstGeom prst="ellipse">
            <a:avLst/>
          </a:prstGeom>
          <a:solidFill>
            <a:srgbClr val="7D3CB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⏱️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37465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Método Pomodoro Integrado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Ciclos de foco intenso com pausas regenerativas para manter a mente fresca.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5397500"/>
            <a:ext cx="635000" cy="635000"/>
          </a:xfrm>
          <a:prstGeom prst="ellipse">
            <a:avLst/>
          </a:prstGeom>
          <a:solidFill>
            <a:srgbClr val="3E63D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52705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Dashboard Intuitivo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Tudo em um só lugar: tarefas, cronômetro e progresso visual acessíveis instantaneamente.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O quadro de conquistas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400" b="0" i="0" u="none" strike="noStrike">
                <a:solidFill>
                  <a:srgbClr val="3E63DD"/>
                </a:solidFill>
                <a:latin typeface="Montserrat"/>
                <a:ea typeface="Montserrat"/>
                <a:cs typeface="Montserrat"/>
                <a:sym typeface="Montserrat"/>
              </a:rPr>
              <a:t>Gamificação</a:t>
            </a:r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"Transformando esforço em recompensa visual."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Estudar libera recompensas visuais instantâneas. Ao concluir ciclos de estudo, você desbloqueia imagens exclusivas, ícones temáticos e GIFs animados para montar seu painel personalizado.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Visualize seu progresso de forma concreta e satisfatória, criando um mural que reflete sua dedicação.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5334000"/>
            <a:ext cx="5080000" cy="762000"/>
          </a:xfrm>
          <a:prstGeom prst="roundRect">
            <a:avLst>
              <a:gd name="adj" fmla="val 13333"/>
            </a:avLst>
          </a:prstGeom>
          <a:solidFill>
            <a:srgbClr val="F0F4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🤝</a:t>
            </a:r>
            <a:r>
              <a:rPr lang="en-US" sz="1400" b="1" i="0" u="none" strike="noStrike">
                <a:solidFill>
                  <a:srgbClr val="3E63DD"/>
                </a:solidFill>
                <a:latin typeface="Open Sans"/>
                <a:ea typeface="Open Sans"/>
                <a:cs typeface="Open Sans"/>
                <a:sym typeface="Open Sans"/>
              </a:rPr>
              <a:t>Social: Compartilhe conquistas e motive amigos!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508000"/>
            <a:ext cx="5080000" cy="5842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0" y="508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3E63D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Meu Mural de Conquistas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1778000"/>
            <a:ext cx="1016000" cy="1016000"/>
          </a:xfrm>
          <a:prstGeom prst="ellipse">
            <a:avLst/>
          </a:prstGeom>
          <a:solidFill>
            <a:srgbClr val="FEF9C3">
              <a:alpha val="100000"/>
            </a:srgbClr>
          </a:solidFill>
          <a:ln w="25400" cap="flat" cmpd="sng">
            <a:solidFill>
              <a:srgbClr val="EAB30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31000" y="2857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100 HORAS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0" y="1778000"/>
            <a:ext cx="1016000" cy="1016000"/>
          </a:xfrm>
          <a:prstGeom prst="ellipse">
            <a:avLst/>
          </a:prstGeom>
          <a:solidFill>
            <a:srgbClr val="E0F2FE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255000" y="2857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FOCO TOTAL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906000" y="1778000"/>
            <a:ext cx="1016000" cy="1016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solidFill>
              <a:srgbClr val="4ADE8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779000" y="2857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SEQUÊNCIA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31000" y="3556000"/>
            <a:ext cx="4318000" cy="2286000"/>
          </a:xfrm>
          <a:prstGeom prst="roundRect">
            <a:avLst>
              <a:gd name="adj" fmla="val 4444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Coleção de Figurinhas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3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🚀 📚 💡 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Versão PRO</a:t>
            </a:r>
            <a:r>
              <a:rPr lang="en-US" sz="2400" b="0" i="0" u="none" strike="noStrike">
                <a:solidFill>
                  <a:srgbClr val="687076"/>
                </a:solidFill>
                <a:latin typeface="Montserrat"/>
                <a:ea typeface="Montserrat"/>
                <a:cs typeface="Montserrat"/>
                <a:sym typeface="Montserrat"/>
              </a:rPr>
              <a:t>(Monetização)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Para quem deseja ir além: recursos premium para máxima performance.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6096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254000" tIns="0" rIns="2540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📈</a:t>
            </a:r>
            <a:r>
              <a:rPr lang="en-US" sz="1800" b="1" i="0" u="none" strike="noStrike">
                <a:solidFill>
                  <a:srgbClr val="3E63DD"/>
                </a:solidFill>
                <a:latin typeface="Montserrat"/>
                <a:ea typeface="Montserrat"/>
                <a:cs typeface="Montserrat"/>
                <a:sym typeface="Montserrat"/>
              </a:rPr>
              <a:t>Monitoramento em Tempo Real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Estatísticas detalhadas de uso e bloqueio inteligente de distrações.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6096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254000" tIns="0" rIns="2540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🤖</a:t>
            </a:r>
            <a:r>
              <a:rPr lang="en-US" sz="1800" b="1" i="0" u="none" strike="noStrike">
                <a:solidFill>
                  <a:srgbClr val="7D3CB5"/>
                </a:solidFill>
                <a:latin typeface="Montserrat"/>
                <a:ea typeface="Montserrat"/>
                <a:cs typeface="Montserrat"/>
                <a:sym typeface="Montserrat"/>
              </a:rPr>
              <a:t>Coach Privado Virtual (IA)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Inteligência artificial que define metas personalizadas para você.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6096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635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254000" tIns="0" rIns="2540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💳</a:t>
            </a:r>
            <a:r>
              <a:rPr lang="en-US" sz="1800" b="1" i="0" u="none" strike="noStrike">
                <a:solidFill>
                  <a:srgbClr val="00A2C7"/>
                </a:solidFill>
                <a:latin typeface="Montserrat"/>
                <a:ea typeface="Montserrat"/>
                <a:cs typeface="Montserrat"/>
                <a:sym typeface="Montserrat"/>
              </a:rPr>
              <a:t>Modelo Freemium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Uso gratuito com opção de assinatura mensal acessível.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0" y="2032000"/>
            <a:ext cx="3556000" cy="4064000"/>
          </a:xfrm>
          <a:prstGeom prst="roundRect">
            <a:avLst>
              <a:gd name="adj" fmla="val 4285"/>
            </a:avLst>
          </a:prstGeom>
          <a:gradFill rotWithShape="1">
            <a:gsLst>
              <a:gs pos="0">
                <a:srgbClr val="1E293B">
                  <a:alpha val="100000"/>
                </a:srgbClr>
              </a:gs>
              <a:gs pos="100000">
                <a:srgbClr val="0F172A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3E63DD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0" y="2540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7188">
            <a:off x="8127381" y="329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E63D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7874000" y="3556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✓ Sem anúncios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✓ Coach IA Ilimitado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✓ Relatórios Avançados</a:t>
            </a:r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3E63DD"/>
                </a:solidFill>
                <a:latin typeface="Montserrat"/>
                <a:ea typeface="Montserrat"/>
                <a:cs typeface="Montserrat"/>
                <a:sym typeface="Montserrat"/>
              </a:rPr>
              <a:t>R$ 9,90</a:t>
            </a: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/mês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1C"/>
                </a:solidFill>
                <a:latin typeface="Montserrat"/>
                <a:ea typeface="Montserrat"/>
                <a:cs typeface="Montserrat"/>
                <a:sym typeface="Montserrat"/>
              </a:rPr>
              <a:t>Visão de futuro / Tração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O impacto que buscamos gerar no ecossistema educacional.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70000" y="3556000"/>
            <a:ext cx="2794000" cy="2540000"/>
          </a:xfrm>
          <a:prstGeom prst="roundRect">
            <a:avLst>
              <a:gd name="adj" fmla="val 0"/>
            </a:avLst>
          </a:prstGeom>
          <a:solidFill>
            <a:srgbClr val="00A2C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5969000"/>
            <a:ext cx="2794000" cy="127000"/>
          </a:xfrm>
          <a:prstGeom prst="roundRect">
            <a:avLst>
              <a:gd name="adj" fmla="val 0"/>
            </a:avLst>
          </a:prstGeom>
          <a:solidFill>
            <a:srgbClr val="00A2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24000" y="3810000"/>
            <a:ext cx="228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😌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A2C7"/>
                </a:solidFill>
                <a:latin typeface="Montserrat"/>
                <a:ea typeface="Montserrat"/>
                <a:cs typeface="Montserrat"/>
                <a:sym typeface="Montserrat"/>
              </a:rPr>
              <a:t>Menos Ansiedade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Redução do estresse estudantil através de rotinas organizadas.</a:t>
            </a:r>
          </a:p>
        </p:txBody>
      </p:sp>
      <p:sp>
        <p:nvSpPr>
          <p:cNvPr id="7" name="AutoShape 7"/>
          <p:cNvSpPr/>
          <p:nvPr/>
        </p:nvSpPr>
        <p:spPr>
          <a:xfrm>
            <a:off x="4699000" y="2921000"/>
            <a:ext cx="2794000" cy="3175000"/>
          </a:xfrm>
          <a:prstGeom prst="roundRect">
            <a:avLst>
              <a:gd name="adj" fmla="val 0"/>
            </a:avLst>
          </a:prstGeom>
          <a:solidFill>
            <a:srgbClr val="3E63D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99000" y="5969000"/>
            <a:ext cx="2794000" cy="127000"/>
          </a:xfrm>
          <a:prstGeom prst="roundRect">
            <a:avLst>
              <a:gd name="adj" fmla="val 0"/>
            </a:avLst>
          </a:prstGeom>
          <a:solidFill>
            <a:srgbClr val="3E63D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953000" y="3175000"/>
            <a:ext cx="2286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🧠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E63DD"/>
                </a:solidFill>
                <a:latin typeface="Montserrat"/>
                <a:ea typeface="Montserrat"/>
                <a:cs typeface="Montserrat"/>
                <a:sym typeface="Montserrat"/>
              </a:rPr>
              <a:t>Mais Retenção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Aumento da absorção de conteúdo graças ao foco ininterrupto.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2286000"/>
            <a:ext cx="2794000" cy="3810000"/>
          </a:xfrm>
          <a:prstGeom prst="roundRect">
            <a:avLst>
              <a:gd name="adj" fmla="val 0"/>
            </a:avLst>
          </a:prstGeom>
          <a:solidFill>
            <a:srgbClr val="7D3CB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28000" y="5969000"/>
            <a:ext cx="2794000" cy="127000"/>
          </a:xfrm>
          <a:prstGeom prst="roundRect">
            <a:avLst>
              <a:gd name="adj" fmla="val 0"/>
            </a:avLst>
          </a:prstGeom>
          <a:solidFill>
            <a:srgbClr val="7D3CB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82000" y="2540000"/>
            <a:ext cx="2286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🏫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7D3CB5"/>
                </a:solidFill>
                <a:latin typeface="Montserrat"/>
                <a:ea typeface="Montserrat"/>
                <a:cs typeface="Montserrat"/>
                <a:sym typeface="Montserrat"/>
              </a:rPr>
              <a:t>Parcerias B2B</a:t>
            </a: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87076"/>
                </a:solidFill>
                <a:latin typeface="Open Sans"/>
                <a:ea typeface="Open Sans"/>
                <a:cs typeface="Open Sans"/>
                <a:sym typeface="Open Sans"/>
              </a:rPr>
              <a:t>Expansão através de convênios com escolas e cursos preparatórios.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63DD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6350000" cy="63500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270000" y="19050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Vamos transformar o estudo em casa?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905000" y="3556000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Equipe</a:t>
            </a:r>
            <a:r>
              <a:rPr lang="en-US" sz="2000" b="0" i="0" u="none" strike="noStrike" dirty="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07 – </a:t>
            </a:r>
            <a:r>
              <a:rPr lang="en-US" sz="2000" b="0" i="0" u="none" strike="noStrike" dirty="0" err="1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Transformando</a:t>
            </a:r>
            <a:r>
              <a:rPr lang="en-US" sz="2000" b="0" i="0" u="none" strike="noStrike" dirty="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dirty="0" err="1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esforço</a:t>
            </a:r>
            <a:r>
              <a:rPr lang="en-US" sz="2000" b="0" i="0" u="none" strike="noStrike" dirty="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dirty="0" err="1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2000" b="0" i="0" u="none" strike="noStrike" dirty="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dirty="0" err="1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medalhas</a:t>
            </a:r>
            <a:r>
              <a:rPr lang="en-US" sz="2000" b="0" i="0" u="none" strike="noStrike" dirty="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000" b="0" i="0" u="none" strike="noStrike" dirty="0" err="1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virtuais</a:t>
            </a:r>
            <a:r>
              <a:rPr lang="en-US" sz="2000" b="0" i="0" u="none" strike="noStrike" dirty="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2000" b="0" i="0" u="none" strike="noStrike" dirty="0" err="1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conhecimento</a:t>
            </a:r>
            <a:r>
              <a:rPr lang="en-US" sz="2000" b="0" i="0" u="none" strike="noStrike" dirty="0">
                <a:solidFill>
                  <a:srgbClr val="E2E8F0"/>
                </a:solidFill>
                <a:latin typeface="Open Sans"/>
                <a:ea typeface="Open Sans"/>
                <a:cs typeface="Open Sans"/>
                <a:sym typeface="Open Sans"/>
              </a:rPr>
              <a:t> real.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17188">
            <a:off x="4825381" y="4565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00A2C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270000" y="5334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Montserrat</vt:lpstr>
      <vt:lpstr>Noto Sans SC</vt:lpstr>
      <vt:lpstr>Open Sans</vt:lpstr>
      <vt:lpstr>Roboto Mono</vt:lpstr>
      <vt:lpstr>Office 主题​​</vt:lpstr>
      <vt:lpstr>默认主题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user</cp:lastModifiedBy>
  <cp:revision>1</cp:revision>
  <dcterms:modified xsi:type="dcterms:W3CDTF">2025-12-20T02:59:48Z</dcterms:modified>
</cp:coreProperties>
</file>